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Lora" panose="020B0604020202020204" charset="0"/>
      <p:regular r:id="rId19"/>
    </p:embeddedFont>
    <p:embeddedFont>
      <p:font typeface="Source Sans 3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581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54378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802510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77539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19553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54803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196938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56728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11303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18135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900401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106722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60512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18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25.png"/><Relationship Id="rId4" Type="http://schemas.openxmlformats.org/officeDocument/2006/relationships/image" Target="../media/image22.png"/><Relationship Id="rId9" Type="http://schemas.openxmlformats.org/officeDocument/2006/relationships/image" Target="../media/image34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34.png"/><Relationship Id="rId18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12" Type="http://schemas.openxmlformats.org/officeDocument/2006/relationships/image" Target="../media/image33.png"/><Relationship Id="rId17" Type="http://schemas.openxmlformats.org/officeDocument/2006/relationships/image" Target="../media/image52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6.png"/><Relationship Id="rId20" Type="http://schemas.openxmlformats.org/officeDocument/2006/relationships/image" Target="../media/image5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46.svg"/><Relationship Id="rId5" Type="http://schemas.openxmlformats.org/officeDocument/2006/relationships/image" Target="../media/image40.svg"/><Relationship Id="rId15" Type="http://schemas.openxmlformats.org/officeDocument/2006/relationships/image" Target="../media/image35.png"/><Relationship Id="rId10" Type="http://schemas.openxmlformats.org/officeDocument/2006/relationships/image" Target="../media/image32.png"/><Relationship Id="rId19" Type="http://schemas.openxmlformats.org/officeDocument/2006/relationships/image" Target="../media/image38.png"/><Relationship Id="rId4" Type="http://schemas.openxmlformats.org/officeDocument/2006/relationships/image" Target="../media/image28.png"/><Relationship Id="rId9" Type="http://schemas.openxmlformats.org/officeDocument/2006/relationships/image" Target="../media/image31.png"/><Relationship Id="rId14" Type="http://schemas.openxmlformats.org/officeDocument/2006/relationships/image" Target="../media/image4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5" y="9686925"/>
            <a:ext cx="2153260" cy="514350"/>
          </a:xfrm>
          <a:custGeom>
            <a:avLst/>
            <a:gdLst/>
            <a:ahLst/>
            <a:cxnLst/>
            <a:rect l="l" t="t" r="r" b="b"/>
            <a:pathLst>
              <a:path w="2153260" h="51435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47159" y="3340598"/>
            <a:ext cx="9335691" cy="2659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98B1EA"/>
                </a:solidFill>
                <a:latin typeface="Lora"/>
                <a:ea typeface="Lora"/>
                <a:cs typeface="Lora"/>
                <a:sym typeface="Lora"/>
              </a:rPr>
              <a:t>Power-Aware Embedded System Using Interrupt-Based Wake-Up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7159" y="6353175"/>
            <a:ext cx="9335691" cy="574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98B1EA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Presented by: ANSHAD 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073872" y="850703"/>
            <a:ext cx="4065089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98B1EA"/>
                </a:solidFill>
                <a:latin typeface="Lora"/>
                <a:ea typeface="Lora"/>
                <a:cs typeface="Lora"/>
                <a:sym typeface="Lora"/>
              </a:rPr>
              <a:t>Chapter 1: The Challenge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7159" y="1328054"/>
            <a:ext cx="14573841" cy="3539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812"/>
              </a:lnSpc>
            </a:pPr>
            <a:r>
              <a:rPr lang="en-US" sz="11062" dirty="0">
                <a:solidFill>
                  <a:srgbClr val="98B1EA"/>
                </a:solidFill>
                <a:latin typeface="Lora"/>
                <a:ea typeface="Lora"/>
                <a:cs typeface="Lora"/>
                <a:sym typeface="Lora"/>
              </a:rPr>
              <a:t>The Problem of Power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47159" y="4766815"/>
            <a:ext cx="5198421" cy="3850777"/>
            <a:chOff x="0" y="0"/>
            <a:chExt cx="6931228" cy="51343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31152" cy="5134356"/>
            </a:xfrm>
            <a:custGeom>
              <a:avLst/>
              <a:gdLst/>
              <a:ahLst/>
              <a:cxnLst/>
              <a:rect l="l" t="t" r="r" b="b"/>
              <a:pathLst>
                <a:path w="6931152" h="5134356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6871335" y="0"/>
                  </a:lnTo>
                  <a:cubicBezTo>
                    <a:pt x="6904355" y="0"/>
                    <a:pt x="6931152" y="26797"/>
                    <a:pt x="6931152" y="59817"/>
                  </a:cubicBezTo>
                  <a:lnTo>
                    <a:pt x="6931152" y="5074539"/>
                  </a:lnTo>
                  <a:cubicBezTo>
                    <a:pt x="6931152" y="5107559"/>
                    <a:pt x="6904355" y="5134356"/>
                    <a:pt x="6871335" y="5134356"/>
                  </a:cubicBezTo>
                  <a:lnTo>
                    <a:pt x="59817" y="5134356"/>
                  </a:lnTo>
                  <a:cubicBezTo>
                    <a:pt x="26797" y="5134356"/>
                    <a:pt x="0" y="5107559"/>
                    <a:pt x="0" y="5074539"/>
                  </a:cubicBezTo>
                  <a:close/>
                </a:path>
              </a:pathLst>
            </a:custGeom>
            <a:solidFill>
              <a:srgbClr val="44475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0" name="Freeform 10" descr="preencoded.png"/>
          <p:cNvSpPr/>
          <p:nvPr/>
        </p:nvSpPr>
        <p:spPr>
          <a:xfrm>
            <a:off x="1346302" y="5065957"/>
            <a:ext cx="897579" cy="897579"/>
          </a:xfrm>
          <a:custGeom>
            <a:avLst/>
            <a:gdLst/>
            <a:ahLst/>
            <a:cxnLst/>
            <a:rect l="l" t="t" r="r" b="b"/>
            <a:pathLst>
              <a:path w="897579" h="897579">
                <a:moveTo>
                  <a:pt x="0" y="0"/>
                </a:moveTo>
                <a:lnTo>
                  <a:pt x="897578" y="0"/>
                </a:lnTo>
                <a:lnTo>
                  <a:pt x="897578" y="897579"/>
                </a:lnTo>
                <a:lnTo>
                  <a:pt x="0" y="897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 descr="preencoded.png"/>
          <p:cNvSpPr/>
          <p:nvPr/>
        </p:nvSpPr>
        <p:spPr>
          <a:xfrm>
            <a:off x="1593056" y="5312721"/>
            <a:ext cx="403917" cy="403917"/>
          </a:xfrm>
          <a:custGeom>
            <a:avLst/>
            <a:gdLst/>
            <a:ahLst/>
            <a:cxnLst/>
            <a:rect l="l" t="t" r="r" b="b"/>
            <a:pathLst>
              <a:path w="403917" h="403917">
                <a:moveTo>
                  <a:pt x="0" y="0"/>
                </a:moveTo>
                <a:lnTo>
                  <a:pt x="403917" y="0"/>
                </a:lnTo>
                <a:lnTo>
                  <a:pt x="403917" y="403917"/>
                </a:lnTo>
                <a:lnTo>
                  <a:pt x="0" y="4039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46302" y="6243638"/>
            <a:ext cx="3520230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Idle Power Draw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46302" y="6786858"/>
            <a:ext cx="4600127" cy="1531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Traditional embedded systems consume power even when the system is idle.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544713" y="4766815"/>
            <a:ext cx="5198421" cy="3850777"/>
            <a:chOff x="0" y="0"/>
            <a:chExt cx="6931228" cy="513436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31152" cy="5134356"/>
            </a:xfrm>
            <a:custGeom>
              <a:avLst/>
              <a:gdLst/>
              <a:ahLst/>
              <a:cxnLst/>
              <a:rect l="l" t="t" r="r" b="b"/>
              <a:pathLst>
                <a:path w="6931152" h="5134356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6871335" y="0"/>
                  </a:lnTo>
                  <a:cubicBezTo>
                    <a:pt x="6904355" y="0"/>
                    <a:pt x="6931152" y="26797"/>
                    <a:pt x="6931152" y="59817"/>
                  </a:cubicBezTo>
                  <a:lnTo>
                    <a:pt x="6931152" y="5074539"/>
                  </a:lnTo>
                  <a:cubicBezTo>
                    <a:pt x="6931152" y="5107559"/>
                    <a:pt x="6904355" y="5134356"/>
                    <a:pt x="6871335" y="5134356"/>
                  </a:cubicBezTo>
                  <a:lnTo>
                    <a:pt x="59817" y="5134356"/>
                  </a:lnTo>
                  <a:cubicBezTo>
                    <a:pt x="26797" y="5134356"/>
                    <a:pt x="0" y="5107559"/>
                    <a:pt x="0" y="5074539"/>
                  </a:cubicBezTo>
                  <a:close/>
                </a:path>
              </a:pathLst>
            </a:custGeom>
            <a:solidFill>
              <a:srgbClr val="44475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6" name="Freeform 16" descr="preencoded.png"/>
          <p:cNvSpPr/>
          <p:nvPr/>
        </p:nvSpPr>
        <p:spPr>
          <a:xfrm>
            <a:off x="6843865" y="5065957"/>
            <a:ext cx="897579" cy="897579"/>
          </a:xfrm>
          <a:custGeom>
            <a:avLst/>
            <a:gdLst/>
            <a:ahLst/>
            <a:cxnLst/>
            <a:rect l="l" t="t" r="r" b="b"/>
            <a:pathLst>
              <a:path w="897579" h="897579">
                <a:moveTo>
                  <a:pt x="0" y="0"/>
                </a:moveTo>
                <a:lnTo>
                  <a:pt x="897579" y="0"/>
                </a:lnTo>
                <a:lnTo>
                  <a:pt x="897579" y="897579"/>
                </a:lnTo>
                <a:lnTo>
                  <a:pt x="0" y="8975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Freeform 17" descr="preencoded.png"/>
          <p:cNvSpPr/>
          <p:nvPr/>
        </p:nvSpPr>
        <p:spPr>
          <a:xfrm>
            <a:off x="7090620" y="5312721"/>
            <a:ext cx="403917" cy="403917"/>
          </a:xfrm>
          <a:custGeom>
            <a:avLst/>
            <a:gdLst/>
            <a:ahLst/>
            <a:cxnLst/>
            <a:rect l="l" t="t" r="r" b="b"/>
            <a:pathLst>
              <a:path w="403917" h="403917">
                <a:moveTo>
                  <a:pt x="0" y="0"/>
                </a:moveTo>
                <a:lnTo>
                  <a:pt x="403917" y="0"/>
                </a:lnTo>
                <a:lnTo>
                  <a:pt x="403917" y="403917"/>
                </a:lnTo>
                <a:lnTo>
                  <a:pt x="0" y="4039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843865" y="6243638"/>
            <a:ext cx="3520230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Polling Overhead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43865" y="6786858"/>
            <a:ext cx="4600127" cy="1531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Continuously checking sensors keeps the CPU active, causing unnecessary battery drain.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042277" y="4766815"/>
            <a:ext cx="5198564" cy="3850777"/>
            <a:chOff x="0" y="0"/>
            <a:chExt cx="6931419" cy="513436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931406" cy="5134356"/>
            </a:xfrm>
            <a:custGeom>
              <a:avLst/>
              <a:gdLst/>
              <a:ahLst/>
              <a:cxnLst/>
              <a:rect l="l" t="t" r="r" b="b"/>
              <a:pathLst>
                <a:path w="6931406" h="5134356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6871589" y="0"/>
                  </a:lnTo>
                  <a:cubicBezTo>
                    <a:pt x="6904609" y="0"/>
                    <a:pt x="6931406" y="26797"/>
                    <a:pt x="6931406" y="59817"/>
                  </a:cubicBezTo>
                  <a:lnTo>
                    <a:pt x="6931406" y="5074539"/>
                  </a:lnTo>
                  <a:cubicBezTo>
                    <a:pt x="6931406" y="5107559"/>
                    <a:pt x="6904609" y="5134356"/>
                    <a:pt x="6871589" y="5134356"/>
                  </a:cubicBezTo>
                  <a:lnTo>
                    <a:pt x="59817" y="5134356"/>
                  </a:lnTo>
                  <a:cubicBezTo>
                    <a:pt x="26797" y="5134356"/>
                    <a:pt x="0" y="5107559"/>
                    <a:pt x="0" y="5074539"/>
                  </a:cubicBezTo>
                  <a:close/>
                </a:path>
              </a:pathLst>
            </a:custGeom>
            <a:solidFill>
              <a:srgbClr val="44475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2" name="Freeform 22" descr="preencoded.png"/>
          <p:cNvSpPr/>
          <p:nvPr/>
        </p:nvSpPr>
        <p:spPr>
          <a:xfrm>
            <a:off x="12341428" y="5065957"/>
            <a:ext cx="897579" cy="897579"/>
          </a:xfrm>
          <a:custGeom>
            <a:avLst/>
            <a:gdLst/>
            <a:ahLst/>
            <a:cxnLst/>
            <a:rect l="l" t="t" r="r" b="b"/>
            <a:pathLst>
              <a:path w="897579" h="897579">
                <a:moveTo>
                  <a:pt x="0" y="0"/>
                </a:moveTo>
                <a:lnTo>
                  <a:pt x="897579" y="0"/>
                </a:lnTo>
                <a:lnTo>
                  <a:pt x="897579" y="897579"/>
                </a:lnTo>
                <a:lnTo>
                  <a:pt x="0" y="8975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3" name="Freeform 23" descr="preencoded.png"/>
          <p:cNvSpPr/>
          <p:nvPr/>
        </p:nvSpPr>
        <p:spPr>
          <a:xfrm>
            <a:off x="12588183" y="5312721"/>
            <a:ext cx="403917" cy="403917"/>
          </a:xfrm>
          <a:custGeom>
            <a:avLst/>
            <a:gdLst/>
            <a:ahLst/>
            <a:cxnLst/>
            <a:rect l="l" t="t" r="r" b="b"/>
            <a:pathLst>
              <a:path w="403917" h="403917">
                <a:moveTo>
                  <a:pt x="0" y="0"/>
                </a:moveTo>
                <a:lnTo>
                  <a:pt x="403917" y="0"/>
                </a:lnTo>
                <a:lnTo>
                  <a:pt x="403917" y="403917"/>
                </a:lnTo>
                <a:lnTo>
                  <a:pt x="0" y="4039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 t="-31396" b="-31396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2341428" y="6243638"/>
            <a:ext cx="3520230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Efficiency is Key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41428" y="6786858"/>
            <a:ext cx="4600280" cy="1531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Power efficiency is critical for battery-powered and long-life embedded devices.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5" y="9686925"/>
            <a:ext cx="2153260" cy="514350"/>
          </a:xfrm>
          <a:custGeom>
            <a:avLst/>
            <a:gdLst/>
            <a:ahLst/>
            <a:cxnLst/>
            <a:rect l="l" t="t" r="r" b="b"/>
            <a:pathLst>
              <a:path w="2153260" h="51435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31364" y="831504"/>
            <a:ext cx="9567272" cy="1584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875">
                <a:solidFill>
                  <a:srgbClr val="98B1EA"/>
                </a:solidFill>
                <a:latin typeface="Lora"/>
                <a:ea typeface="Lora"/>
                <a:cs typeface="Lora"/>
                <a:sym typeface="Lora"/>
              </a:rPr>
              <a:t>Project Objectives: Designing for Efficiency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7077" y="2800502"/>
            <a:ext cx="4679156" cy="3419180"/>
            <a:chOff x="0" y="0"/>
            <a:chExt cx="6238875" cy="4558906"/>
          </a:xfrm>
        </p:grpSpPr>
        <p:sp>
          <p:nvSpPr>
            <p:cNvPr id="10" name="Freeform 10"/>
            <p:cNvSpPr/>
            <p:nvPr/>
          </p:nvSpPr>
          <p:spPr>
            <a:xfrm>
              <a:off x="19050" y="19050"/>
              <a:ext cx="6200775" cy="4520819"/>
            </a:xfrm>
            <a:custGeom>
              <a:avLst/>
              <a:gdLst/>
              <a:ahLst/>
              <a:cxnLst/>
              <a:rect l="l" t="t" r="r" b="b"/>
              <a:pathLst>
                <a:path w="6200775" h="4520819">
                  <a:moveTo>
                    <a:pt x="0" y="182880"/>
                  </a:moveTo>
                  <a:cubicBezTo>
                    <a:pt x="0" y="81915"/>
                    <a:pt x="82042" y="0"/>
                    <a:pt x="183261" y="0"/>
                  </a:cubicBezTo>
                  <a:lnTo>
                    <a:pt x="6017514" y="0"/>
                  </a:lnTo>
                  <a:cubicBezTo>
                    <a:pt x="6118733" y="0"/>
                    <a:pt x="6200775" y="81915"/>
                    <a:pt x="6200775" y="182880"/>
                  </a:cubicBezTo>
                  <a:lnTo>
                    <a:pt x="6200775" y="4337939"/>
                  </a:lnTo>
                  <a:cubicBezTo>
                    <a:pt x="6200775" y="4438904"/>
                    <a:pt x="6118733" y="4520819"/>
                    <a:pt x="6017514" y="4520819"/>
                  </a:cubicBezTo>
                  <a:lnTo>
                    <a:pt x="183261" y="4520819"/>
                  </a:lnTo>
                  <a:cubicBezTo>
                    <a:pt x="82042" y="4520819"/>
                    <a:pt x="0" y="4438904"/>
                    <a:pt x="0" y="4337939"/>
                  </a:cubicBezTo>
                  <a:close/>
                </a:path>
              </a:pathLst>
            </a:custGeom>
            <a:solidFill>
              <a:srgbClr val="252833"/>
            </a:solidFill>
            <a:ln w="12700">
              <a:solidFill>
                <a:srgbClr val="000000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6238875" cy="4558919"/>
            </a:xfrm>
            <a:custGeom>
              <a:avLst/>
              <a:gdLst/>
              <a:ahLst/>
              <a:cxnLst/>
              <a:rect l="l" t="t" r="r" b="b"/>
              <a:pathLst>
                <a:path w="6238875" h="4558919">
                  <a:moveTo>
                    <a:pt x="0" y="201930"/>
                  </a:moveTo>
                  <a:cubicBezTo>
                    <a:pt x="0" y="90297"/>
                    <a:pt x="90678" y="0"/>
                    <a:pt x="202311" y="0"/>
                  </a:cubicBezTo>
                  <a:lnTo>
                    <a:pt x="6036564" y="0"/>
                  </a:lnTo>
                  <a:lnTo>
                    <a:pt x="6036564" y="19050"/>
                  </a:lnTo>
                  <a:lnTo>
                    <a:pt x="6036564" y="0"/>
                  </a:lnTo>
                  <a:cubicBezTo>
                    <a:pt x="6148324" y="0"/>
                    <a:pt x="6238875" y="90297"/>
                    <a:pt x="6238875" y="201930"/>
                  </a:cubicBezTo>
                  <a:lnTo>
                    <a:pt x="6219825" y="201930"/>
                  </a:lnTo>
                  <a:lnTo>
                    <a:pt x="6238875" y="201930"/>
                  </a:lnTo>
                  <a:lnTo>
                    <a:pt x="6238875" y="4356989"/>
                  </a:lnTo>
                  <a:lnTo>
                    <a:pt x="6219825" y="4356989"/>
                  </a:lnTo>
                  <a:lnTo>
                    <a:pt x="6238875" y="4356989"/>
                  </a:lnTo>
                  <a:cubicBezTo>
                    <a:pt x="6238875" y="4468495"/>
                    <a:pt x="6148197" y="4558919"/>
                    <a:pt x="6036564" y="4558919"/>
                  </a:cubicBezTo>
                  <a:lnTo>
                    <a:pt x="6036564" y="4539869"/>
                  </a:lnTo>
                  <a:lnTo>
                    <a:pt x="6036564" y="4558919"/>
                  </a:lnTo>
                  <a:lnTo>
                    <a:pt x="202311" y="4558919"/>
                  </a:lnTo>
                  <a:lnTo>
                    <a:pt x="202311" y="4539869"/>
                  </a:lnTo>
                  <a:lnTo>
                    <a:pt x="202311" y="4558919"/>
                  </a:lnTo>
                  <a:cubicBezTo>
                    <a:pt x="90551" y="4558919"/>
                    <a:pt x="0" y="4468622"/>
                    <a:pt x="0" y="435698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4356989"/>
                  </a:lnTo>
                  <a:lnTo>
                    <a:pt x="19050" y="4356989"/>
                  </a:lnTo>
                  <a:lnTo>
                    <a:pt x="38100" y="4356989"/>
                  </a:lnTo>
                  <a:cubicBezTo>
                    <a:pt x="38100" y="4447413"/>
                    <a:pt x="111633" y="4520819"/>
                    <a:pt x="202311" y="4520819"/>
                  </a:cubicBezTo>
                  <a:lnTo>
                    <a:pt x="6036564" y="4520819"/>
                  </a:lnTo>
                  <a:cubicBezTo>
                    <a:pt x="6127369" y="4520819"/>
                    <a:pt x="6200775" y="4447413"/>
                    <a:pt x="6200775" y="4356989"/>
                  </a:cubicBezTo>
                  <a:lnTo>
                    <a:pt x="6200775" y="201930"/>
                  </a:lnTo>
                  <a:cubicBezTo>
                    <a:pt x="6200775" y="111506"/>
                    <a:pt x="6127242" y="38100"/>
                    <a:pt x="6036564" y="38100"/>
                  </a:cubicBezTo>
                  <a:lnTo>
                    <a:pt x="202311" y="38100"/>
                  </a:lnTo>
                  <a:lnTo>
                    <a:pt x="202311" y="19050"/>
                  </a:lnTo>
                  <a:lnTo>
                    <a:pt x="202311" y="38100"/>
                  </a:lnTo>
                  <a:cubicBezTo>
                    <a:pt x="111633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5D606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Freeform 12" descr="preencoded.png"/>
          <p:cNvSpPr/>
          <p:nvPr/>
        </p:nvSpPr>
        <p:spPr>
          <a:xfrm>
            <a:off x="902789" y="2814790"/>
            <a:ext cx="114300" cy="3390605"/>
          </a:xfrm>
          <a:custGeom>
            <a:avLst/>
            <a:gdLst/>
            <a:ahLst/>
            <a:cxnLst/>
            <a:rect l="l" t="t" r="r" b="b"/>
            <a:pathLst>
              <a:path w="114300" h="3390605">
                <a:moveTo>
                  <a:pt x="0" y="0"/>
                </a:moveTo>
                <a:lnTo>
                  <a:pt x="114300" y="0"/>
                </a:lnTo>
                <a:lnTo>
                  <a:pt x="114300" y="3390605"/>
                </a:lnTo>
                <a:lnTo>
                  <a:pt x="0" y="33906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" b="-4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11773" y="3099940"/>
            <a:ext cx="3975497" cy="948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937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Design a Power-Aware System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1773" y="4131916"/>
            <a:ext cx="3975497" cy="1353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Design an embedded system that minimizes energy consumption during both idle and active states. 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833767" y="2800502"/>
            <a:ext cx="4679156" cy="3419180"/>
            <a:chOff x="0" y="0"/>
            <a:chExt cx="6238875" cy="4558906"/>
          </a:xfrm>
        </p:grpSpPr>
        <p:sp>
          <p:nvSpPr>
            <p:cNvPr id="16" name="Freeform 16"/>
            <p:cNvSpPr/>
            <p:nvPr/>
          </p:nvSpPr>
          <p:spPr>
            <a:xfrm>
              <a:off x="19050" y="19050"/>
              <a:ext cx="6200775" cy="4520819"/>
            </a:xfrm>
            <a:custGeom>
              <a:avLst/>
              <a:gdLst/>
              <a:ahLst/>
              <a:cxnLst/>
              <a:rect l="l" t="t" r="r" b="b"/>
              <a:pathLst>
                <a:path w="6200775" h="4520819">
                  <a:moveTo>
                    <a:pt x="0" y="182880"/>
                  </a:moveTo>
                  <a:cubicBezTo>
                    <a:pt x="0" y="81915"/>
                    <a:pt x="82042" y="0"/>
                    <a:pt x="183261" y="0"/>
                  </a:cubicBezTo>
                  <a:lnTo>
                    <a:pt x="6017514" y="0"/>
                  </a:lnTo>
                  <a:cubicBezTo>
                    <a:pt x="6118733" y="0"/>
                    <a:pt x="6200775" y="81915"/>
                    <a:pt x="6200775" y="182880"/>
                  </a:cubicBezTo>
                  <a:lnTo>
                    <a:pt x="6200775" y="4337939"/>
                  </a:lnTo>
                  <a:cubicBezTo>
                    <a:pt x="6200775" y="4438904"/>
                    <a:pt x="6118733" y="4520819"/>
                    <a:pt x="6017514" y="4520819"/>
                  </a:cubicBezTo>
                  <a:lnTo>
                    <a:pt x="183261" y="4520819"/>
                  </a:lnTo>
                  <a:cubicBezTo>
                    <a:pt x="82042" y="4520819"/>
                    <a:pt x="0" y="4438904"/>
                    <a:pt x="0" y="4337939"/>
                  </a:cubicBezTo>
                  <a:close/>
                </a:path>
              </a:pathLst>
            </a:custGeom>
            <a:solidFill>
              <a:srgbClr val="252833"/>
            </a:solidFill>
            <a:ln w="12700">
              <a:solidFill>
                <a:srgbClr val="000000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6238875" cy="4558919"/>
            </a:xfrm>
            <a:custGeom>
              <a:avLst/>
              <a:gdLst/>
              <a:ahLst/>
              <a:cxnLst/>
              <a:rect l="l" t="t" r="r" b="b"/>
              <a:pathLst>
                <a:path w="6238875" h="4558919">
                  <a:moveTo>
                    <a:pt x="0" y="201930"/>
                  </a:moveTo>
                  <a:cubicBezTo>
                    <a:pt x="0" y="90297"/>
                    <a:pt x="90678" y="0"/>
                    <a:pt x="202311" y="0"/>
                  </a:cubicBezTo>
                  <a:lnTo>
                    <a:pt x="6036564" y="0"/>
                  </a:lnTo>
                  <a:lnTo>
                    <a:pt x="6036564" y="19050"/>
                  </a:lnTo>
                  <a:lnTo>
                    <a:pt x="6036564" y="0"/>
                  </a:lnTo>
                  <a:cubicBezTo>
                    <a:pt x="6148324" y="0"/>
                    <a:pt x="6238875" y="90297"/>
                    <a:pt x="6238875" y="201930"/>
                  </a:cubicBezTo>
                  <a:lnTo>
                    <a:pt x="6219825" y="201930"/>
                  </a:lnTo>
                  <a:lnTo>
                    <a:pt x="6238875" y="201930"/>
                  </a:lnTo>
                  <a:lnTo>
                    <a:pt x="6238875" y="4356989"/>
                  </a:lnTo>
                  <a:lnTo>
                    <a:pt x="6219825" y="4356989"/>
                  </a:lnTo>
                  <a:lnTo>
                    <a:pt x="6238875" y="4356989"/>
                  </a:lnTo>
                  <a:cubicBezTo>
                    <a:pt x="6238875" y="4468495"/>
                    <a:pt x="6148197" y="4558919"/>
                    <a:pt x="6036564" y="4558919"/>
                  </a:cubicBezTo>
                  <a:lnTo>
                    <a:pt x="6036564" y="4539869"/>
                  </a:lnTo>
                  <a:lnTo>
                    <a:pt x="6036564" y="4558919"/>
                  </a:lnTo>
                  <a:lnTo>
                    <a:pt x="202311" y="4558919"/>
                  </a:lnTo>
                  <a:lnTo>
                    <a:pt x="202311" y="4539869"/>
                  </a:lnTo>
                  <a:lnTo>
                    <a:pt x="202311" y="4558919"/>
                  </a:lnTo>
                  <a:cubicBezTo>
                    <a:pt x="90551" y="4558919"/>
                    <a:pt x="0" y="4468622"/>
                    <a:pt x="0" y="435698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4356989"/>
                  </a:lnTo>
                  <a:lnTo>
                    <a:pt x="19050" y="4356989"/>
                  </a:lnTo>
                  <a:lnTo>
                    <a:pt x="38100" y="4356989"/>
                  </a:lnTo>
                  <a:cubicBezTo>
                    <a:pt x="38100" y="4447413"/>
                    <a:pt x="111633" y="4520819"/>
                    <a:pt x="202311" y="4520819"/>
                  </a:cubicBezTo>
                  <a:lnTo>
                    <a:pt x="6036564" y="4520819"/>
                  </a:lnTo>
                  <a:cubicBezTo>
                    <a:pt x="6127369" y="4520819"/>
                    <a:pt x="6200775" y="4447413"/>
                    <a:pt x="6200775" y="4356989"/>
                  </a:cubicBezTo>
                  <a:lnTo>
                    <a:pt x="6200775" y="201930"/>
                  </a:lnTo>
                  <a:cubicBezTo>
                    <a:pt x="6200775" y="111506"/>
                    <a:pt x="6127242" y="38100"/>
                    <a:pt x="6036564" y="38100"/>
                  </a:cubicBezTo>
                  <a:lnTo>
                    <a:pt x="202311" y="38100"/>
                  </a:lnTo>
                  <a:lnTo>
                    <a:pt x="202311" y="19050"/>
                  </a:lnTo>
                  <a:lnTo>
                    <a:pt x="202311" y="38100"/>
                  </a:lnTo>
                  <a:cubicBezTo>
                    <a:pt x="111633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5D606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8" name="Freeform 18" descr="preencoded.png"/>
          <p:cNvSpPr/>
          <p:nvPr/>
        </p:nvSpPr>
        <p:spPr>
          <a:xfrm>
            <a:off x="5819480" y="2814790"/>
            <a:ext cx="114300" cy="3390605"/>
          </a:xfrm>
          <a:custGeom>
            <a:avLst/>
            <a:gdLst/>
            <a:ahLst/>
            <a:cxnLst/>
            <a:rect l="l" t="t" r="r" b="b"/>
            <a:pathLst>
              <a:path w="114300" h="3390605">
                <a:moveTo>
                  <a:pt x="0" y="0"/>
                </a:moveTo>
                <a:lnTo>
                  <a:pt x="114300" y="0"/>
                </a:lnTo>
                <a:lnTo>
                  <a:pt x="114300" y="3390605"/>
                </a:lnTo>
                <a:lnTo>
                  <a:pt x="0" y="33906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" b="-4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228455" y="3099940"/>
            <a:ext cx="3975497" cy="948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937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Leverage Low-Power Modes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28455" y="4131916"/>
            <a:ext cx="3975497" cy="1778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Reduce power consumption by using the microcontroller’s sleep and low-power modes during idle periods.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17077" y="6457207"/>
            <a:ext cx="4679156" cy="2993527"/>
            <a:chOff x="0" y="0"/>
            <a:chExt cx="6238875" cy="3991369"/>
          </a:xfrm>
        </p:grpSpPr>
        <p:sp>
          <p:nvSpPr>
            <p:cNvPr id="22" name="Freeform 22"/>
            <p:cNvSpPr/>
            <p:nvPr/>
          </p:nvSpPr>
          <p:spPr>
            <a:xfrm>
              <a:off x="19050" y="19050"/>
              <a:ext cx="6200775" cy="3953256"/>
            </a:xfrm>
            <a:custGeom>
              <a:avLst/>
              <a:gdLst/>
              <a:ahLst/>
              <a:cxnLst/>
              <a:rect l="l" t="t" r="r" b="b"/>
              <a:pathLst>
                <a:path w="6200775" h="3953256">
                  <a:moveTo>
                    <a:pt x="0" y="182880"/>
                  </a:moveTo>
                  <a:cubicBezTo>
                    <a:pt x="0" y="81915"/>
                    <a:pt x="82169" y="0"/>
                    <a:pt x="183515" y="0"/>
                  </a:cubicBezTo>
                  <a:lnTo>
                    <a:pt x="6017260" y="0"/>
                  </a:lnTo>
                  <a:cubicBezTo>
                    <a:pt x="6118606" y="0"/>
                    <a:pt x="6200775" y="81915"/>
                    <a:pt x="6200775" y="182880"/>
                  </a:cubicBezTo>
                  <a:lnTo>
                    <a:pt x="6200775" y="3770376"/>
                  </a:lnTo>
                  <a:cubicBezTo>
                    <a:pt x="6200775" y="3871341"/>
                    <a:pt x="6118606" y="3953256"/>
                    <a:pt x="6017260" y="3953256"/>
                  </a:cubicBezTo>
                  <a:lnTo>
                    <a:pt x="183515" y="3953256"/>
                  </a:lnTo>
                  <a:cubicBezTo>
                    <a:pt x="82169" y="3953256"/>
                    <a:pt x="0" y="3871341"/>
                    <a:pt x="0" y="3770376"/>
                  </a:cubicBezTo>
                  <a:close/>
                </a:path>
              </a:pathLst>
            </a:custGeom>
            <a:solidFill>
              <a:srgbClr val="252833"/>
            </a:solidFill>
            <a:ln w="12700">
              <a:solidFill>
                <a:srgbClr val="000000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6238875" cy="3991356"/>
            </a:xfrm>
            <a:custGeom>
              <a:avLst/>
              <a:gdLst/>
              <a:ahLst/>
              <a:cxnLst/>
              <a:rect l="l" t="t" r="r" b="b"/>
              <a:pathLst>
                <a:path w="6238875" h="3991356">
                  <a:moveTo>
                    <a:pt x="0" y="201930"/>
                  </a:moveTo>
                  <a:cubicBezTo>
                    <a:pt x="0" y="90297"/>
                    <a:pt x="90805" y="0"/>
                    <a:pt x="202565" y="0"/>
                  </a:cubicBezTo>
                  <a:lnTo>
                    <a:pt x="6036310" y="0"/>
                  </a:lnTo>
                  <a:lnTo>
                    <a:pt x="6036310" y="19050"/>
                  </a:lnTo>
                  <a:lnTo>
                    <a:pt x="6036310" y="0"/>
                  </a:lnTo>
                  <a:cubicBezTo>
                    <a:pt x="6148070" y="0"/>
                    <a:pt x="6238875" y="90297"/>
                    <a:pt x="6238875" y="201930"/>
                  </a:cubicBezTo>
                  <a:lnTo>
                    <a:pt x="6219825" y="201930"/>
                  </a:lnTo>
                  <a:lnTo>
                    <a:pt x="6238875" y="201930"/>
                  </a:lnTo>
                  <a:lnTo>
                    <a:pt x="6238875" y="3789426"/>
                  </a:lnTo>
                  <a:lnTo>
                    <a:pt x="6219825" y="3789426"/>
                  </a:lnTo>
                  <a:lnTo>
                    <a:pt x="6238875" y="3789426"/>
                  </a:lnTo>
                  <a:cubicBezTo>
                    <a:pt x="6238875" y="3901059"/>
                    <a:pt x="6148070" y="3991356"/>
                    <a:pt x="6036310" y="3991356"/>
                  </a:cubicBezTo>
                  <a:lnTo>
                    <a:pt x="6036310" y="3972306"/>
                  </a:lnTo>
                  <a:lnTo>
                    <a:pt x="6036310" y="3991356"/>
                  </a:lnTo>
                  <a:lnTo>
                    <a:pt x="202565" y="3991356"/>
                  </a:lnTo>
                  <a:lnTo>
                    <a:pt x="202565" y="3972306"/>
                  </a:lnTo>
                  <a:lnTo>
                    <a:pt x="202565" y="3991356"/>
                  </a:lnTo>
                  <a:cubicBezTo>
                    <a:pt x="90805" y="3991356"/>
                    <a:pt x="0" y="3901059"/>
                    <a:pt x="0" y="3789426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789426"/>
                  </a:lnTo>
                  <a:lnTo>
                    <a:pt x="19050" y="3789426"/>
                  </a:lnTo>
                  <a:lnTo>
                    <a:pt x="38100" y="3789426"/>
                  </a:lnTo>
                  <a:cubicBezTo>
                    <a:pt x="38100" y="3879850"/>
                    <a:pt x="111633" y="3953256"/>
                    <a:pt x="202565" y="3953256"/>
                  </a:cubicBezTo>
                  <a:lnTo>
                    <a:pt x="6036310" y="3953256"/>
                  </a:lnTo>
                  <a:cubicBezTo>
                    <a:pt x="6127242" y="3953256"/>
                    <a:pt x="6200775" y="3879850"/>
                    <a:pt x="6200775" y="3789426"/>
                  </a:cubicBezTo>
                  <a:lnTo>
                    <a:pt x="6200775" y="201930"/>
                  </a:lnTo>
                  <a:cubicBezTo>
                    <a:pt x="6200775" y="111506"/>
                    <a:pt x="6127242" y="38100"/>
                    <a:pt x="6036310" y="38100"/>
                  </a:cubicBezTo>
                  <a:lnTo>
                    <a:pt x="202565" y="38100"/>
                  </a:lnTo>
                  <a:lnTo>
                    <a:pt x="202565" y="19050"/>
                  </a:lnTo>
                  <a:lnTo>
                    <a:pt x="202565" y="38100"/>
                  </a:lnTo>
                  <a:cubicBezTo>
                    <a:pt x="111633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5D606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4" name="Freeform 24" descr="preencoded.png"/>
          <p:cNvSpPr/>
          <p:nvPr/>
        </p:nvSpPr>
        <p:spPr>
          <a:xfrm>
            <a:off x="902789" y="6471495"/>
            <a:ext cx="114300" cy="2964952"/>
          </a:xfrm>
          <a:custGeom>
            <a:avLst/>
            <a:gdLst/>
            <a:ahLst/>
            <a:cxnLst/>
            <a:rect l="l" t="t" r="r" b="b"/>
            <a:pathLst>
              <a:path w="114300" h="2964952">
                <a:moveTo>
                  <a:pt x="0" y="0"/>
                </a:moveTo>
                <a:lnTo>
                  <a:pt x="114300" y="0"/>
                </a:lnTo>
                <a:lnTo>
                  <a:pt x="114300" y="2964951"/>
                </a:lnTo>
                <a:lnTo>
                  <a:pt x="0" y="29649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1" r="-49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311773" y="6756644"/>
            <a:ext cx="3975497" cy="948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937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Implement Interrupt-Based Execution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11773" y="7788621"/>
            <a:ext cx="3975497" cy="1353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Shift from continuous execution to an event-driven approach where the CPU wakes only when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73931" y="1099680"/>
            <a:ext cx="5139633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98B1EA"/>
                </a:solidFill>
                <a:latin typeface="Lora"/>
                <a:ea typeface="Lora"/>
                <a:cs typeface="Lora"/>
                <a:sym typeface="Lora"/>
              </a:rPr>
              <a:t>Chapter 2: System Architecture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1675" y="1773493"/>
            <a:ext cx="10263778" cy="884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dirty="0">
                <a:solidFill>
                  <a:srgbClr val="98B1EA"/>
                </a:solidFill>
                <a:latin typeface="Lora"/>
                <a:ea typeface="Lora"/>
                <a:cs typeface="Lora"/>
                <a:sym typeface="Lora"/>
              </a:rPr>
              <a:t>Power-Aware System Overview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1047159" y="4477198"/>
            <a:ext cx="5198421" cy="1428750"/>
          </a:xfrm>
          <a:custGeom>
            <a:avLst/>
            <a:gdLst/>
            <a:ahLst/>
            <a:cxnLst/>
            <a:rect l="l" t="t" r="r" b="b"/>
            <a:pathLst>
              <a:path w="5198421" h="1428750">
                <a:moveTo>
                  <a:pt x="0" y="0"/>
                </a:moveTo>
                <a:lnTo>
                  <a:pt x="5198422" y="0"/>
                </a:lnTo>
                <a:lnTo>
                  <a:pt x="5198422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" r="-21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46302" y="5664403"/>
            <a:ext cx="4394892" cy="53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Sleep Mode Operation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46302" y="6286052"/>
            <a:ext cx="4600127" cy="2010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microcontroller resides in low-power sleep modes for the majority of its operation cycle during periods of inactivity.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6544713" y="4028332"/>
            <a:ext cx="5198421" cy="1428750"/>
          </a:xfrm>
          <a:custGeom>
            <a:avLst/>
            <a:gdLst/>
            <a:ahLst/>
            <a:cxnLst/>
            <a:rect l="l" t="t" r="r" b="b"/>
            <a:pathLst>
              <a:path w="5198421" h="1428750">
                <a:moveTo>
                  <a:pt x="0" y="0"/>
                </a:moveTo>
                <a:lnTo>
                  <a:pt x="5198421" y="0"/>
                </a:lnTo>
                <a:lnTo>
                  <a:pt x="5198421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" r="-21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843865" y="5215528"/>
            <a:ext cx="4224338" cy="53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Interrupt Wake-Up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3865" y="5837187"/>
            <a:ext cx="4600127" cy="1531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System wakes up from sleep using hardware interrupts when an event occurs.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12042277" y="3579609"/>
            <a:ext cx="5198564" cy="1428750"/>
          </a:xfrm>
          <a:custGeom>
            <a:avLst/>
            <a:gdLst/>
            <a:ahLst/>
            <a:cxnLst/>
            <a:rect l="l" t="t" r="r" b="b"/>
            <a:pathLst>
              <a:path w="5198564" h="1428750">
                <a:moveTo>
                  <a:pt x="0" y="0"/>
                </a:moveTo>
                <a:lnTo>
                  <a:pt x="5198564" y="0"/>
                </a:lnTo>
                <a:lnTo>
                  <a:pt x="5198564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" r="-20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341428" y="4766815"/>
            <a:ext cx="4600280" cy="1065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Demand-Based Execution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41428" y="5916368"/>
            <a:ext cx="4600280" cy="2010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Tasks and required computations are executed only in response to a specific event, eliminating idle processing.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047159" y="845048"/>
            <a:ext cx="9009307" cy="899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98B1EA"/>
                </a:solidFill>
                <a:latin typeface="Lora"/>
                <a:ea typeface="Lora"/>
                <a:cs typeface="Lora"/>
                <a:sym typeface="Lora"/>
              </a:rPr>
              <a:t>Key Hardware Components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1047159" y="2342559"/>
            <a:ext cx="3767880" cy="3767880"/>
          </a:xfrm>
          <a:custGeom>
            <a:avLst/>
            <a:gdLst/>
            <a:ahLst/>
            <a:cxnLst/>
            <a:rect l="l" t="t" r="r" b="b"/>
            <a:pathLst>
              <a:path w="3767880" h="3767880">
                <a:moveTo>
                  <a:pt x="0" y="0"/>
                </a:moveTo>
                <a:lnTo>
                  <a:pt x="3767881" y="0"/>
                </a:lnTo>
                <a:lnTo>
                  <a:pt x="3767881" y="3767881"/>
                </a:lnTo>
                <a:lnTo>
                  <a:pt x="0" y="37678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47159" y="6390532"/>
            <a:ext cx="3767880" cy="898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STM32 Microcontroller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7159" y="7373693"/>
            <a:ext cx="3767880" cy="2010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Acts as the brain of the system, chosen for low-power operation and extensive peripherals.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5189039" y="2342559"/>
            <a:ext cx="3767880" cy="3767880"/>
          </a:xfrm>
          <a:custGeom>
            <a:avLst/>
            <a:gdLst/>
            <a:ahLst/>
            <a:cxnLst/>
            <a:rect l="l" t="t" r="r" b="b"/>
            <a:pathLst>
              <a:path w="3767880" h="3767880">
                <a:moveTo>
                  <a:pt x="0" y="0"/>
                </a:moveTo>
                <a:lnTo>
                  <a:pt x="3767880" y="0"/>
                </a:lnTo>
                <a:lnTo>
                  <a:pt x="3767880" y="3767881"/>
                </a:lnTo>
                <a:lnTo>
                  <a:pt x="0" y="37678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189039" y="6390532"/>
            <a:ext cx="3570389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Sensors &amp; Peripherals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89039" y="6933752"/>
            <a:ext cx="3767880" cy="2010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Detect environmental or system state changes, generating the critical input events needed for wake-up.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9330928" y="2342559"/>
            <a:ext cx="3767880" cy="3767880"/>
          </a:xfrm>
          <a:custGeom>
            <a:avLst/>
            <a:gdLst/>
            <a:ahLst/>
            <a:cxnLst/>
            <a:rect l="l" t="t" r="r" b="b"/>
            <a:pathLst>
              <a:path w="3767880" h="3767880">
                <a:moveTo>
                  <a:pt x="0" y="0"/>
                </a:moveTo>
                <a:lnTo>
                  <a:pt x="3767881" y="0"/>
                </a:lnTo>
                <a:lnTo>
                  <a:pt x="3767881" y="3767881"/>
                </a:lnTo>
                <a:lnTo>
                  <a:pt x="0" y="37678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330928" y="6390532"/>
            <a:ext cx="3520230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Push Button Input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30928" y="6933752"/>
            <a:ext cx="3767880" cy="2489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Used primarily to generate external interrupts for demonstration, simulating user interaction or a simple trigger.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13472817" y="2342559"/>
            <a:ext cx="3768033" cy="3768033"/>
          </a:xfrm>
          <a:custGeom>
            <a:avLst/>
            <a:gdLst/>
            <a:ahLst/>
            <a:cxnLst/>
            <a:rect l="l" t="t" r="r" b="b"/>
            <a:pathLst>
              <a:path w="3768033" h="3768033">
                <a:moveTo>
                  <a:pt x="0" y="0"/>
                </a:moveTo>
                <a:lnTo>
                  <a:pt x="3768033" y="0"/>
                </a:lnTo>
                <a:lnTo>
                  <a:pt x="3768033" y="3768033"/>
                </a:lnTo>
                <a:lnTo>
                  <a:pt x="0" y="37680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3472817" y="6390684"/>
            <a:ext cx="3768033" cy="898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Power Supply and Battery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472817" y="7373836"/>
            <a:ext cx="3768033" cy="2010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 battery or low-noise power supply feeds the system, demanding efficiency for maximum operational life.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95658" y="753666"/>
            <a:ext cx="12375061" cy="865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50">
                <a:solidFill>
                  <a:srgbClr val="98B1EA"/>
                </a:solidFill>
                <a:latin typeface="Lora"/>
                <a:ea typeface="Lora"/>
                <a:cs typeface="Lora"/>
                <a:sym typeface="Lora"/>
              </a:rPr>
              <a:t>Communication &amp; Interfacing Protocols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5658" y="2101901"/>
            <a:ext cx="16296684" cy="54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Efficient data handling and debugging rely on selecting the right communication protocols suited for low-power operation.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5658" y="2962570"/>
            <a:ext cx="8006058" cy="853383"/>
            <a:chOff x="0" y="0"/>
            <a:chExt cx="10674744" cy="11378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74731" cy="1137920"/>
            </a:xfrm>
            <a:custGeom>
              <a:avLst/>
              <a:gdLst/>
              <a:ahLst/>
              <a:cxnLst/>
              <a:rect l="l" t="t" r="r" b="b"/>
              <a:pathLst>
                <a:path w="10674731" h="1137920">
                  <a:moveTo>
                    <a:pt x="0" y="568960"/>
                  </a:moveTo>
                  <a:cubicBezTo>
                    <a:pt x="0" y="254762"/>
                    <a:pt x="254762" y="0"/>
                    <a:pt x="568960" y="0"/>
                  </a:cubicBezTo>
                  <a:lnTo>
                    <a:pt x="10105771" y="0"/>
                  </a:lnTo>
                  <a:cubicBezTo>
                    <a:pt x="10419969" y="0"/>
                    <a:pt x="10674731" y="254762"/>
                    <a:pt x="10674731" y="568960"/>
                  </a:cubicBezTo>
                  <a:cubicBezTo>
                    <a:pt x="10674731" y="883158"/>
                    <a:pt x="10419969" y="1137920"/>
                    <a:pt x="10105771" y="1137920"/>
                  </a:cubicBezTo>
                  <a:lnTo>
                    <a:pt x="568960" y="1137920"/>
                  </a:lnTo>
                  <a:cubicBezTo>
                    <a:pt x="254762" y="1137793"/>
                    <a:pt x="0" y="883158"/>
                    <a:pt x="0" y="568960"/>
                  </a:cubicBezTo>
                  <a:close/>
                </a:path>
              </a:pathLst>
            </a:custGeom>
            <a:solidFill>
              <a:srgbClr val="44475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0" name="Freeform 10" descr="preencoded.png"/>
          <p:cNvSpPr/>
          <p:nvPr/>
        </p:nvSpPr>
        <p:spPr>
          <a:xfrm>
            <a:off x="4785274" y="3175845"/>
            <a:ext cx="426691" cy="426691"/>
          </a:xfrm>
          <a:custGeom>
            <a:avLst/>
            <a:gdLst/>
            <a:ahLst/>
            <a:cxnLst/>
            <a:rect l="l" t="t" r="r" b="b"/>
            <a:pathLst>
              <a:path w="426691" h="426691">
                <a:moveTo>
                  <a:pt x="0" y="0"/>
                </a:moveTo>
                <a:lnTo>
                  <a:pt x="426692" y="0"/>
                </a:lnTo>
                <a:lnTo>
                  <a:pt x="426692" y="426691"/>
                </a:lnTo>
                <a:lnTo>
                  <a:pt x="0" y="4266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80074" y="4090835"/>
            <a:ext cx="7437234" cy="84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UART (Universal Asynchronous Receiver/Transmitter)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0074" y="5021904"/>
            <a:ext cx="7437234" cy="995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Utilized for system monitoring, debugging, and initial configuration output.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286132" y="2962570"/>
            <a:ext cx="8006210" cy="853383"/>
            <a:chOff x="0" y="0"/>
            <a:chExt cx="10674947" cy="11378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674985" cy="1137920"/>
            </a:xfrm>
            <a:custGeom>
              <a:avLst/>
              <a:gdLst/>
              <a:ahLst/>
              <a:cxnLst/>
              <a:rect l="l" t="t" r="r" b="b"/>
              <a:pathLst>
                <a:path w="10674985" h="1137920">
                  <a:moveTo>
                    <a:pt x="0" y="568960"/>
                  </a:moveTo>
                  <a:cubicBezTo>
                    <a:pt x="0" y="254762"/>
                    <a:pt x="254762" y="0"/>
                    <a:pt x="568960" y="0"/>
                  </a:cubicBezTo>
                  <a:lnTo>
                    <a:pt x="10106025" y="0"/>
                  </a:lnTo>
                  <a:cubicBezTo>
                    <a:pt x="10420223" y="0"/>
                    <a:pt x="10674985" y="254762"/>
                    <a:pt x="10674985" y="568960"/>
                  </a:cubicBezTo>
                  <a:cubicBezTo>
                    <a:pt x="10674985" y="883158"/>
                    <a:pt x="10420223" y="1137920"/>
                    <a:pt x="10106025" y="1137920"/>
                  </a:cubicBezTo>
                  <a:lnTo>
                    <a:pt x="568960" y="1137920"/>
                  </a:lnTo>
                  <a:cubicBezTo>
                    <a:pt x="254762" y="1137793"/>
                    <a:pt x="0" y="883158"/>
                    <a:pt x="0" y="568960"/>
                  </a:cubicBezTo>
                  <a:close/>
                </a:path>
              </a:pathLst>
            </a:custGeom>
            <a:solidFill>
              <a:srgbClr val="44475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5" name="Freeform 15" descr="preencoded.png"/>
          <p:cNvSpPr/>
          <p:nvPr/>
        </p:nvSpPr>
        <p:spPr>
          <a:xfrm>
            <a:off x="13075891" y="3175845"/>
            <a:ext cx="426691" cy="426691"/>
          </a:xfrm>
          <a:custGeom>
            <a:avLst/>
            <a:gdLst/>
            <a:ahLst/>
            <a:cxnLst/>
            <a:rect l="l" t="t" r="r" b="b"/>
            <a:pathLst>
              <a:path w="426691" h="426691">
                <a:moveTo>
                  <a:pt x="0" y="0"/>
                </a:moveTo>
                <a:lnTo>
                  <a:pt x="426692" y="0"/>
                </a:lnTo>
                <a:lnTo>
                  <a:pt x="426692" y="426691"/>
                </a:lnTo>
                <a:lnTo>
                  <a:pt x="0" y="4266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570539" y="4090835"/>
            <a:ext cx="4525413" cy="427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I2C (Inter-Integrated Circuit)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70539" y="4603547"/>
            <a:ext cx="7437387" cy="995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primary choice for communicating with low-power sensors and peripherals due to its simplicity and efficiency.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95658" y="6586385"/>
            <a:ext cx="8006058" cy="853383"/>
            <a:chOff x="0" y="0"/>
            <a:chExt cx="10674744" cy="113784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674731" cy="1137920"/>
            </a:xfrm>
            <a:custGeom>
              <a:avLst/>
              <a:gdLst/>
              <a:ahLst/>
              <a:cxnLst/>
              <a:rect l="l" t="t" r="r" b="b"/>
              <a:pathLst>
                <a:path w="10674731" h="1137920">
                  <a:moveTo>
                    <a:pt x="0" y="568960"/>
                  </a:moveTo>
                  <a:cubicBezTo>
                    <a:pt x="0" y="254762"/>
                    <a:pt x="254762" y="0"/>
                    <a:pt x="568960" y="0"/>
                  </a:cubicBezTo>
                  <a:lnTo>
                    <a:pt x="10105771" y="0"/>
                  </a:lnTo>
                  <a:cubicBezTo>
                    <a:pt x="10419969" y="0"/>
                    <a:pt x="10674731" y="254762"/>
                    <a:pt x="10674731" y="568960"/>
                  </a:cubicBezTo>
                  <a:cubicBezTo>
                    <a:pt x="10674731" y="883158"/>
                    <a:pt x="10419969" y="1137920"/>
                    <a:pt x="10105771" y="1137920"/>
                  </a:cubicBezTo>
                  <a:lnTo>
                    <a:pt x="568960" y="1137920"/>
                  </a:lnTo>
                  <a:cubicBezTo>
                    <a:pt x="254762" y="1137793"/>
                    <a:pt x="0" y="883158"/>
                    <a:pt x="0" y="568960"/>
                  </a:cubicBezTo>
                  <a:close/>
                </a:path>
              </a:pathLst>
            </a:custGeom>
            <a:solidFill>
              <a:srgbClr val="44475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0" name="Freeform 20" descr="preencoded.png"/>
          <p:cNvSpPr/>
          <p:nvPr/>
        </p:nvSpPr>
        <p:spPr>
          <a:xfrm>
            <a:off x="4785274" y="6799659"/>
            <a:ext cx="426691" cy="426691"/>
          </a:xfrm>
          <a:custGeom>
            <a:avLst/>
            <a:gdLst/>
            <a:ahLst/>
            <a:cxnLst/>
            <a:rect l="l" t="t" r="r" b="b"/>
            <a:pathLst>
              <a:path w="426691" h="426691">
                <a:moveTo>
                  <a:pt x="0" y="0"/>
                </a:moveTo>
                <a:lnTo>
                  <a:pt x="426692" y="0"/>
                </a:lnTo>
                <a:lnTo>
                  <a:pt x="426692" y="426692"/>
                </a:lnTo>
                <a:lnTo>
                  <a:pt x="0" y="4266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 l="-24443" r="-24445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280074" y="7714659"/>
            <a:ext cx="5373138" cy="427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ADC (Analog-to-Digital Converter)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0074" y="8227371"/>
            <a:ext cx="7437234" cy="995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Converts analog signals to digital for sensor readings and battery voltage monitoring.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286132" y="6586385"/>
            <a:ext cx="8006210" cy="853383"/>
            <a:chOff x="0" y="0"/>
            <a:chExt cx="10674947" cy="113784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674985" cy="1137920"/>
            </a:xfrm>
            <a:custGeom>
              <a:avLst/>
              <a:gdLst/>
              <a:ahLst/>
              <a:cxnLst/>
              <a:rect l="l" t="t" r="r" b="b"/>
              <a:pathLst>
                <a:path w="10674985" h="1137920">
                  <a:moveTo>
                    <a:pt x="0" y="568960"/>
                  </a:moveTo>
                  <a:cubicBezTo>
                    <a:pt x="0" y="254762"/>
                    <a:pt x="254762" y="0"/>
                    <a:pt x="568960" y="0"/>
                  </a:cubicBezTo>
                  <a:lnTo>
                    <a:pt x="10106025" y="0"/>
                  </a:lnTo>
                  <a:cubicBezTo>
                    <a:pt x="10420223" y="0"/>
                    <a:pt x="10674985" y="254762"/>
                    <a:pt x="10674985" y="568960"/>
                  </a:cubicBezTo>
                  <a:cubicBezTo>
                    <a:pt x="10674985" y="883158"/>
                    <a:pt x="10420223" y="1137920"/>
                    <a:pt x="10106025" y="1137920"/>
                  </a:cubicBezTo>
                  <a:lnTo>
                    <a:pt x="568960" y="1137920"/>
                  </a:lnTo>
                  <a:cubicBezTo>
                    <a:pt x="254762" y="1137793"/>
                    <a:pt x="0" y="883158"/>
                    <a:pt x="0" y="568960"/>
                  </a:cubicBezTo>
                  <a:close/>
                </a:path>
              </a:pathLst>
            </a:custGeom>
            <a:solidFill>
              <a:srgbClr val="44475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5" name="Freeform 25" descr="preencoded.png"/>
          <p:cNvSpPr/>
          <p:nvPr/>
        </p:nvSpPr>
        <p:spPr>
          <a:xfrm>
            <a:off x="13075891" y="6799659"/>
            <a:ext cx="426691" cy="426691"/>
          </a:xfrm>
          <a:custGeom>
            <a:avLst/>
            <a:gdLst/>
            <a:ahLst/>
            <a:cxnLst/>
            <a:rect l="l" t="t" r="r" b="b"/>
            <a:pathLst>
              <a:path w="426691" h="426691">
                <a:moveTo>
                  <a:pt x="0" y="0"/>
                </a:moveTo>
                <a:lnTo>
                  <a:pt x="426692" y="0"/>
                </a:lnTo>
                <a:lnTo>
                  <a:pt x="426692" y="426692"/>
                </a:lnTo>
                <a:lnTo>
                  <a:pt x="0" y="4266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 t="-2221" b="-2223"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9570539" y="7714659"/>
            <a:ext cx="3346694" cy="427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Interrupts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70539" y="8227371"/>
            <a:ext cx="7437387" cy="995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core event-based mechanism that dictates when the system becomes active and executes tasks.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820941" y="1064571"/>
            <a:ext cx="10153059" cy="70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>
                <a:solidFill>
                  <a:srgbClr val="98B1EA"/>
                </a:solidFill>
                <a:latin typeface="Lora"/>
                <a:ea typeface="Lora"/>
                <a:cs typeface="Lora"/>
                <a:sym typeface="Lora"/>
              </a:rPr>
              <a:t>The Interrupt-Based Wake-Up Concept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1111301" y="2125418"/>
            <a:ext cx="16065398" cy="7852772"/>
          </a:xfrm>
          <a:custGeom>
            <a:avLst/>
            <a:gdLst/>
            <a:ahLst/>
            <a:cxnLst/>
            <a:rect l="l" t="t" r="r" b="b"/>
            <a:pathLst>
              <a:path w="16065398" h="7852772">
                <a:moveTo>
                  <a:pt x="0" y="0"/>
                </a:moveTo>
                <a:lnTo>
                  <a:pt x="16065398" y="0"/>
                </a:lnTo>
                <a:lnTo>
                  <a:pt x="16065398" y="7852772"/>
                </a:lnTo>
                <a:lnTo>
                  <a:pt x="0" y="78527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" r="-36"/>
            </a:stretch>
          </a:blipFill>
        </p:spPr>
      </p:sp>
      <p:sp>
        <p:nvSpPr>
          <p:cNvPr id="8" name="Freeform 8" descr="preencoded.png"/>
          <p:cNvSpPr/>
          <p:nvPr/>
        </p:nvSpPr>
        <p:spPr>
          <a:xfrm>
            <a:off x="8111995" y="3971068"/>
            <a:ext cx="582606" cy="582606"/>
          </a:xfrm>
          <a:custGeom>
            <a:avLst/>
            <a:gdLst/>
            <a:ahLst/>
            <a:cxnLst/>
            <a:rect l="l" t="t" r="r" b="b"/>
            <a:pathLst>
              <a:path w="582606" h="582606">
                <a:moveTo>
                  <a:pt x="0" y="0"/>
                </a:moveTo>
                <a:lnTo>
                  <a:pt x="582606" y="0"/>
                </a:lnTo>
                <a:lnTo>
                  <a:pt x="582606" y="582606"/>
                </a:lnTo>
                <a:lnTo>
                  <a:pt x="0" y="5826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t="-8064" b="-8063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437867" y="4831547"/>
            <a:ext cx="3524745" cy="449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7"/>
              </a:lnSpc>
            </a:pPr>
            <a:r>
              <a:rPr lang="en-US" sz="156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Enter Deep Sleep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10675449" y="5136271"/>
            <a:ext cx="582606" cy="582606"/>
          </a:xfrm>
          <a:custGeom>
            <a:avLst/>
            <a:gdLst/>
            <a:ahLst/>
            <a:cxnLst/>
            <a:rect l="l" t="t" r="r" b="b"/>
            <a:pathLst>
              <a:path w="582606" h="582606">
                <a:moveTo>
                  <a:pt x="0" y="0"/>
                </a:moveTo>
                <a:lnTo>
                  <a:pt x="582606" y="0"/>
                </a:lnTo>
                <a:lnTo>
                  <a:pt x="582606" y="582606"/>
                </a:lnTo>
                <a:lnTo>
                  <a:pt x="0" y="5826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 l="-806" r="-806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477776" y="3033808"/>
            <a:ext cx="3524745" cy="449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7"/>
              </a:lnSpc>
            </a:pPr>
            <a:r>
              <a:rPr lang="en-US" sz="156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Interrupt Occurs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9576568" y="7583205"/>
            <a:ext cx="582606" cy="582606"/>
          </a:xfrm>
          <a:custGeom>
            <a:avLst/>
            <a:gdLst/>
            <a:ahLst/>
            <a:cxnLst/>
            <a:rect l="l" t="t" r="r" b="b"/>
            <a:pathLst>
              <a:path w="582606" h="582606">
                <a:moveTo>
                  <a:pt x="0" y="0"/>
                </a:moveTo>
                <a:lnTo>
                  <a:pt x="582606" y="0"/>
                </a:lnTo>
                <a:lnTo>
                  <a:pt x="582606" y="582606"/>
                </a:lnTo>
                <a:lnTo>
                  <a:pt x="0" y="5826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325198" y="6729165"/>
            <a:ext cx="3524745" cy="449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7"/>
              </a:lnSpc>
            </a:pPr>
            <a:r>
              <a:rPr lang="en-US" sz="156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Wake &amp; Execute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7013372" y="6484582"/>
            <a:ext cx="582606" cy="582606"/>
          </a:xfrm>
          <a:custGeom>
            <a:avLst/>
            <a:gdLst/>
            <a:ahLst/>
            <a:cxnLst/>
            <a:rect l="l" t="t" r="r" b="b"/>
            <a:pathLst>
              <a:path w="582606" h="582606">
                <a:moveTo>
                  <a:pt x="0" y="0"/>
                </a:moveTo>
                <a:lnTo>
                  <a:pt x="582606" y="0"/>
                </a:lnTo>
                <a:lnTo>
                  <a:pt x="582606" y="582606"/>
                </a:lnTo>
                <a:lnTo>
                  <a:pt x="0" y="5826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 t="-11290" b="-11288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268895" y="8560203"/>
            <a:ext cx="3524745" cy="449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7"/>
              </a:lnSpc>
            </a:pPr>
            <a:r>
              <a:rPr lang="en-US" sz="156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Return to Sleep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0941" y="10165852"/>
            <a:ext cx="16646128" cy="451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This methodology ensures that CPU time is reserved strictly for value-adding operations, keeping power consumption minimal when idle.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761848" y="571348"/>
            <a:ext cx="5290690" cy="668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4000">
                <a:solidFill>
                  <a:srgbClr val="98B1EA"/>
                </a:solidFill>
                <a:latin typeface="Lora"/>
                <a:ea typeface="Lora"/>
                <a:cs typeface="Lora"/>
                <a:sym typeface="Lora"/>
              </a:rPr>
              <a:t>Operational 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1848" y="1618355"/>
            <a:ext cx="16764295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system follows a strict state machine to minimize time spent in the high-power active state.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61848" y="2268588"/>
            <a:ext cx="489795" cy="489795"/>
            <a:chOff x="0" y="0"/>
            <a:chExt cx="653059" cy="6530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3034" cy="653034"/>
            </a:xfrm>
            <a:custGeom>
              <a:avLst/>
              <a:gdLst/>
              <a:ahLst/>
              <a:cxnLst/>
              <a:rect l="l" t="t" r="r" b="b"/>
              <a:pathLst>
                <a:path w="653034" h="653034">
                  <a:moveTo>
                    <a:pt x="0" y="43561"/>
                  </a:moveTo>
                  <a:cubicBezTo>
                    <a:pt x="0" y="19431"/>
                    <a:pt x="19431" y="0"/>
                    <a:pt x="43561" y="0"/>
                  </a:cubicBezTo>
                  <a:lnTo>
                    <a:pt x="609473" y="0"/>
                  </a:lnTo>
                  <a:cubicBezTo>
                    <a:pt x="633476" y="0"/>
                    <a:pt x="653034" y="19431"/>
                    <a:pt x="653034" y="43561"/>
                  </a:cubicBezTo>
                  <a:lnTo>
                    <a:pt x="653034" y="609473"/>
                  </a:lnTo>
                  <a:cubicBezTo>
                    <a:pt x="653034" y="633476"/>
                    <a:pt x="633603" y="653034"/>
                    <a:pt x="609473" y="653034"/>
                  </a:cubicBezTo>
                  <a:lnTo>
                    <a:pt x="43561" y="653034"/>
                  </a:lnTo>
                  <a:cubicBezTo>
                    <a:pt x="19431" y="653034"/>
                    <a:pt x="0" y="633603"/>
                    <a:pt x="0" y="609473"/>
                  </a:cubicBezTo>
                  <a:close/>
                </a:path>
              </a:pathLst>
            </a:custGeom>
            <a:solidFill>
              <a:srgbClr val="44475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853011" y="2368972"/>
            <a:ext cx="307334" cy="336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375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9231" y="2333777"/>
            <a:ext cx="2759126" cy="32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Initialization and Setup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9231" y="2736799"/>
            <a:ext cx="16056921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System powers on, initializes all required peripherals, and configures interrupt handlers.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61848" y="3577533"/>
            <a:ext cx="489795" cy="489795"/>
            <a:chOff x="0" y="0"/>
            <a:chExt cx="653059" cy="65305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53034" cy="653034"/>
            </a:xfrm>
            <a:custGeom>
              <a:avLst/>
              <a:gdLst/>
              <a:ahLst/>
              <a:cxnLst/>
              <a:rect l="l" t="t" r="r" b="b"/>
              <a:pathLst>
                <a:path w="653034" h="653034">
                  <a:moveTo>
                    <a:pt x="0" y="43561"/>
                  </a:moveTo>
                  <a:cubicBezTo>
                    <a:pt x="0" y="19431"/>
                    <a:pt x="19431" y="0"/>
                    <a:pt x="43561" y="0"/>
                  </a:cubicBezTo>
                  <a:lnTo>
                    <a:pt x="609473" y="0"/>
                  </a:lnTo>
                  <a:cubicBezTo>
                    <a:pt x="633476" y="0"/>
                    <a:pt x="653034" y="19431"/>
                    <a:pt x="653034" y="43561"/>
                  </a:cubicBezTo>
                  <a:lnTo>
                    <a:pt x="653034" y="609473"/>
                  </a:lnTo>
                  <a:cubicBezTo>
                    <a:pt x="653034" y="633476"/>
                    <a:pt x="633603" y="653034"/>
                    <a:pt x="609473" y="653034"/>
                  </a:cubicBezTo>
                  <a:lnTo>
                    <a:pt x="43561" y="653034"/>
                  </a:lnTo>
                  <a:cubicBezTo>
                    <a:pt x="19431" y="653034"/>
                    <a:pt x="0" y="633603"/>
                    <a:pt x="0" y="609473"/>
                  </a:cubicBezTo>
                  <a:close/>
                </a:path>
              </a:pathLst>
            </a:custGeom>
            <a:solidFill>
              <a:srgbClr val="44475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853011" y="3677917"/>
            <a:ext cx="307334" cy="336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375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69231" y="3642114"/>
            <a:ext cx="3102769" cy="330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dirty="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Enter Low-Power Mode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69231" y="4045744"/>
            <a:ext cx="16056921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microcontroller immediately transitions to the designated low-power sleep mode.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61848" y="4886477"/>
            <a:ext cx="489795" cy="489795"/>
            <a:chOff x="0" y="0"/>
            <a:chExt cx="653059" cy="65305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53034" cy="653034"/>
            </a:xfrm>
            <a:custGeom>
              <a:avLst/>
              <a:gdLst/>
              <a:ahLst/>
              <a:cxnLst/>
              <a:rect l="l" t="t" r="r" b="b"/>
              <a:pathLst>
                <a:path w="653034" h="653034">
                  <a:moveTo>
                    <a:pt x="0" y="43561"/>
                  </a:moveTo>
                  <a:cubicBezTo>
                    <a:pt x="0" y="19431"/>
                    <a:pt x="19431" y="0"/>
                    <a:pt x="43561" y="0"/>
                  </a:cubicBezTo>
                  <a:lnTo>
                    <a:pt x="609473" y="0"/>
                  </a:lnTo>
                  <a:cubicBezTo>
                    <a:pt x="633476" y="0"/>
                    <a:pt x="653034" y="19431"/>
                    <a:pt x="653034" y="43561"/>
                  </a:cubicBezTo>
                  <a:lnTo>
                    <a:pt x="653034" y="609473"/>
                  </a:lnTo>
                  <a:cubicBezTo>
                    <a:pt x="653034" y="633476"/>
                    <a:pt x="633603" y="653034"/>
                    <a:pt x="609473" y="653034"/>
                  </a:cubicBezTo>
                  <a:lnTo>
                    <a:pt x="43561" y="653034"/>
                  </a:lnTo>
                  <a:cubicBezTo>
                    <a:pt x="19431" y="653034"/>
                    <a:pt x="0" y="633603"/>
                    <a:pt x="0" y="609473"/>
                  </a:cubicBezTo>
                  <a:close/>
                </a:path>
              </a:pathLst>
            </a:custGeom>
            <a:solidFill>
              <a:srgbClr val="44475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853011" y="4986861"/>
            <a:ext cx="307334" cy="336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375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69231" y="4951657"/>
            <a:ext cx="2785767" cy="32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Interrupt Event Trigger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69231" y="5354688"/>
            <a:ext cx="16056921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An event (from a button, sensor, or timer) generates a hardware interrupt.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761848" y="6195422"/>
            <a:ext cx="489795" cy="489795"/>
            <a:chOff x="0" y="0"/>
            <a:chExt cx="653059" cy="65305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53034" cy="653034"/>
            </a:xfrm>
            <a:custGeom>
              <a:avLst/>
              <a:gdLst/>
              <a:ahLst/>
              <a:cxnLst/>
              <a:rect l="l" t="t" r="r" b="b"/>
              <a:pathLst>
                <a:path w="653034" h="653034">
                  <a:moveTo>
                    <a:pt x="0" y="43561"/>
                  </a:moveTo>
                  <a:cubicBezTo>
                    <a:pt x="0" y="19431"/>
                    <a:pt x="19431" y="0"/>
                    <a:pt x="43561" y="0"/>
                  </a:cubicBezTo>
                  <a:lnTo>
                    <a:pt x="609473" y="0"/>
                  </a:lnTo>
                  <a:cubicBezTo>
                    <a:pt x="633476" y="0"/>
                    <a:pt x="653034" y="19431"/>
                    <a:pt x="653034" y="43561"/>
                  </a:cubicBezTo>
                  <a:lnTo>
                    <a:pt x="653034" y="609473"/>
                  </a:lnTo>
                  <a:cubicBezTo>
                    <a:pt x="653034" y="633476"/>
                    <a:pt x="633603" y="653034"/>
                    <a:pt x="609473" y="653034"/>
                  </a:cubicBezTo>
                  <a:lnTo>
                    <a:pt x="43561" y="653034"/>
                  </a:lnTo>
                  <a:cubicBezTo>
                    <a:pt x="19431" y="653034"/>
                    <a:pt x="0" y="633603"/>
                    <a:pt x="0" y="609473"/>
                  </a:cubicBezTo>
                  <a:close/>
                </a:path>
              </a:pathLst>
            </a:custGeom>
            <a:solidFill>
              <a:srgbClr val="44475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853011" y="6295806"/>
            <a:ext cx="307334" cy="336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375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69231" y="6260602"/>
            <a:ext cx="3504305" cy="32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Wake-Up and Task Execution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69231" y="6663633"/>
            <a:ext cx="16056921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CPU wakes up, processes the interrupt, and executes the required event-specific task.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61848" y="7504357"/>
            <a:ext cx="489795" cy="489795"/>
            <a:chOff x="0" y="0"/>
            <a:chExt cx="653059" cy="6530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53034" cy="653034"/>
            </a:xfrm>
            <a:custGeom>
              <a:avLst/>
              <a:gdLst/>
              <a:ahLst/>
              <a:cxnLst/>
              <a:rect l="l" t="t" r="r" b="b"/>
              <a:pathLst>
                <a:path w="653034" h="653034">
                  <a:moveTo>
                    <a:pt x="0" y="43561"/>
                  </a:moveTo>
                  <a:cubicBezTo>
                    <a:pt x="0" y="19431"/>
                    <a:pt x="19431" y="0"/>
                    <a:pt x="43561" y="0"/>
                  </a:cubicBezTo>
                  <a:lnTo>
                    <a:pt x="609473" y="0"/>
                  </a:lnTo>
                  <a:cubicBezTo>
                    <a:pt x="633476" y="0"/>
                    <a:pt x="653034" y="19431"/>
                    <a:pt x="653034" y="43561"/>
                  </a:cubicBezTo>
                  <a:lnTo>
                    <a:pt x="653034" y="609473"/>
                  </a:lnTo>
                  <a:cubicBezTo>
                    <a:pt x="653034" y="633476"/>
                    <a:pt x="633603" y="653034"/>
                    <a:pt x="609473" y="653034"/>
                  </a:cubicBezTo>
                  <a:lnTo>
                    <a:pt x="43561" y="653034"/>
                  </a:lnTo>
                  <a:cubicBezTo>
                    <a:pt x="19431" y="653034"/>
                    <a:pt x="0" y="633603"/>
                    <a:pt x="0" y="609473"/>
                  </a:cubicBezTo>
                  <a:close/>
                </a:path>
              </a:pathLst>
            </a:custGeom>
            <a:solidFill>
              <a:srgbClr val="44475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853011" y="7604741"/>
            <a:ext cx="307334" cy="336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375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9231" y="7569546"/>
            <a:ext cx="3814315" cy="32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Data Processing &amp; Transmission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69231" y="7972577"/>
            <a:ext cx="16056921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Any collected data is processed, logged, or transmitted via the communication protocols (UART/I2C).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761848" y="8813302"/>
            <a:ext cx="489795" cy="489795"/>
            <a:chOff x="0" y="0"/>
            <a:chExt cx="653059" cy="65305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53034" cy="653034"/>
            </a:xfrm>
            <a:custGeom>
              <a:avLst/>
              <a:gdLst/>
              <a:ahLst/>
              <a:cxnLst/>
              <a:rect l="l" t="t" r="r" b="b"/>
              <a:pathLst>
                <a:path w="653034" h="653034">
                  <a:moveTo>
                    <a:pt x="0" y="43561"/>
                  </a:moveTo>
                  <a:cubicBezTo>
                    <a:pt x="0" y="19431"/>
                    <a:pt x="19431" y="0"/>
                    <a:pt x="43561" y="0"/>
                  </a:cubicBezTo>
                  <a:lnTo>
                    <a:pt x="609473" y="0"/>
                  </a:lnTo>
                  <a:cubicBezTo>
                    <a:pt x="633476" y="0"/>
                    <a:pt x="653034" y="19431"/>
                    <a:pt x="653034" y="43561"/>
                  </a:cubicBezTo>
                  <a:lnTo>
                    <a:pt x="653034" y="609473"/>
                  </a:lnTo>
                  <a:cubicBezTo>
                    <a:pt x="653034" y="633476"/>
                    <a:pt x="633603" y="653034"/>
                    <a:pt x="609473" y="653034"/>
                  </a:cubicBezTo>
                  <a:lnTo>
                    <a:pt x="43561" y="653034"/>
                  </a:lnTo>
                  <a:cubicBezTo>
                    <a:pt x="19431" y="653034"/>
                    <a:pt x="0" y="633603"/>
                    <a:pt x="0" y="609473"/>
                  </a:cubicBezTo>
                  <a:close/>
                </a:path>
              </a:pathLst>
            </a:custGeom>
            <a:solidFill>
              <a:srgbClr val="44475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853011" y="8913685"/>
            <a:ext cx="307334" cy="336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2375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6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69231" y="8878491"/>
            <a:ext cx="4440136" cy="32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Peripherals Disable &amp; Return to Sleep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69231" y="9281522"/>
            <a:ext cx="16056921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687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All non-essential peripherals are powered down, and the system re-enters sleep mode to await the next event.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798462" y="608257"/>
            <a:ext cx="8567290" cy="689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187">
                <a:solidFill>
                  <a:srgbClr val="98B1EA"/>
                </a:solidFill>
                <a:latin typeface="Lora"/>
                <a:ea typeface="Lora"/>
                <a:cs typeface="Lora"/>
                <a:sym typeface="Lora"/>
              </a:rPr>
              <a:t>Core Power Management Strategy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8462" y="1678334"/>
            <a:ext cx="16691077" cy="44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Our power saving is achieved through a multi-pronged approach targeting every aspect of energy usage.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462" y="2585142"/>
            <a:ext cx="3221088" cy="42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98B1EA"/>
                </a:solidFill>
                <a:latin typeface="Lora"/>
                <a:ea typeface="Lora"/>
                <a:cs typeface="Lora"/>
                <a:sym typeface="Lora"/>
              </a:rPr>
              <a:t>Key Techniques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8462" y="3158728"/>
            <a:ext cx="8067227" cy="806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2812"/>
              </a:lnSpc>
              <a:buFont typeface="Arial"/>
              <a:buChar char="•"/>
            </a:pPr>
            <a:r>
              <a:rPr lang="en-US" sz="17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Systematic use of low-power modes (Stop/Standby) to minimize baseline energy consumption.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8462" y="3968353"/>
            <a:ext cx="8067227" cy="806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2812"/>
              </a:lnSpc>
              <a:buFont typeface="Arial"/>
              <a:buChar char="•"/>
            </a:pPr>
            <a:r>
              <a:rPr lang="en-US" sz="17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Interrupt-driven execution completely replaces power-hungry, continuous polling loops.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8462" y="4777978"/>
            <a:ext cx="8067227" cy="806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2812"/>
              </a:lnSpc>
              <a:buFont typeface="Arial"/>
              <a:buChar char="•"/>
            </a:pPr>
            <a:r>
              <a:rPr lang="en-US" sz="17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Strict power-gating: unused or unnecessary peripherals are explicitly disabled when not in use.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8462" y="5587603"/>
            <a:ext cx="8067227" cy="806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2812"/>
              </a:lnSpc>
              <a:buFont typeface="Arial"/>
              <a:buChar char="•"/>
            </a:pPr>
            <a:r>
              <a:rPr lang="en-US" sz="1750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CPU active time is minimized by optimizing code execution speed and task scheduling.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0895451" y="2119455"/>
            <a:ext cx="6332702" cy="6332702"/>
          </a:xfrm>
          <a:custGeom>
            <a:avLst/>
            <a:gdLst/>
            <a:ahLst/>
            <a:cxnLst/>
            <a:rect l="l" t="t" r="r" b="b"/>
            <a:pathLst>
              <a:path w="6332702" h="6332702">
                <a:moveTo>
                  <a:pt x="0" y="0"/>
                </a:moveTo>
                <a:lnTo>
                  <a:pt x="6332702" y="0"/>
                </a:lnTo>
                <a:lnTo>
                  <a:pt x="6332702" y="6332702"/>
                </a:lnTo>
                <a:lnTo>
                  <a:pt x="0" y="6332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047159" y="852783"/>
            <a:ext cx="13792648" cy="899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98B1EA"/>
                </a:solidFill>
                <a:latin typeface="Lora"/>
                <a:ea typeface="Lora"/>
                <a:cs typeface="Lora"/>
                <a:sym typeface="Lora"/>
              </a:rPr>
              <a:t>Project Impact: Advantages &amp; Applications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89930" y="2570559"/>
            <a:ext cx="3520230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37"/>
              </a:lnSpc>
            </a:pPr>
            <a:r>
              <a:rPr lang="en-US" sz="275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Fast Response Time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7159" y="3113780"/>
            <a:ext cx="5263010" cy="105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Immediate wake-up ensures a quick and reliable response to external events.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6310160" y="3048743"/>
            <a:ext cx="5667670" cy="5667670"/>
          </a:xfrm>
          <a:custGeom>
            <a:avLst/>
            <a:gdLst/>
            <a:ahLst/>
            <a:cxnLst/>
            <a:rect l="l" t="t" r="r" b="b"/>
            <a:pathLst>
              <a:path w="5667670" h="5667670">
                <a:moveTo>
                  <a:pt x="0" y="0"/>
                </a:moveTo>
                <a:lnTo>
                  <a:pt x="5667670" y="0"/>
                </a:lnTo>
                <a:lnTo>
                  <a:pt x="5667670" y="5667670"/>
                </a:lnTo>
                <a:lnTo>
                  <a:pt x="0" y="5667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 descr="preencoded.png"/>
          <p:cNvSpPr/>
          <p:nvPr/>
        </p:nvSpPr>
        <p:spPr>
          <a:xfrm>
            <a:off x="8203702" y="4408141"/>
            <a:ext cx="420738" cy="420738"/>
          </a:xfrm>
          <a:custGeom>
            <a:avLst/>
            <a:gdLst/>
            <a:ahLst/>
            <a:cxnLst/>
            <a:rect l="l" t="t" r="r" b="b"/>
            <a:pathLst>
              <a:path w="420738" h="420738">
                <a:moveTo>
                  <a:pt x="0" y="0"/>
                </a:moveTo>
                <a:lnTo>
                  <a:pt x="420738" y="0"/>
                </a:lnTo>
                <a:lnTo>
                  <a:pt x="420738" y="420739"/>
                </a:lnTo>
                <a:lnTo>
                  <a:pt x="0" y="4207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977840" y="2331244"/>
            <a:ext cx="3559226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Extended Battery Life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77840" y="2874464"/>
            <a:ext cx="5263010" cy="1531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Significant power reduction directly translates to dramatically improved device endurance.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6310160" y="3048743"/>
            <a:ext cx="5667670" cy="5667670"/>
          </a:xfrm>
          <a:custGeom>
            <a:avLst/>
            <a:gdLst/>
            <a:ahLst/>
            <a:cxnLst/>
            <a:rect l="l" t="t" r="r" b="b"/>
            <a:pathLst>
              <a:path w="5667670" h="5667670">
                <a:moveTo>
                  <a:pt x="0" y="0"/>
                </a:moveTo>
                <a:lnTo>
                  <a:pt x="5667670" y="0"/>
                </a:lnTo>
                <a:lnTo>
                  <a:pt x="5667670" y="5667670"/>
                </a:lnTo>
                <a:lnTo>
                  <a:pt x="0" y="56676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Freeform 14" descr="preencoded.png"/>
          <p:cNvSpPr/>
          <p:nvPr/>
        </p:nvSpPr>
        <p:spPr>
          <a:xfrm>
            <a:off x="9663265" y="4408141"/>
            <a:ext cx="420738" cy="420738"/>
          </a:xfrm>
          <a:custGeom>
            <a:avLst/>
            <a:gdLst/>
            <a:ahLst/>
            <a:cxnLst/>
            <a:rect l="l" t="t" r="r" b="b"/>
            <a:pathLst>
              <a:path w="420738" h="420738">
                <a:moveTo>
                  <a:pt x="0" y="0"/>
                </a:moveTo>
                <a:lnTo>
                  <a:pt x="420738" y="0"/>
                </a:lnTo>
                <a:lnTo>
                  <a:pt x="420738" y="420739"/>
                </a:lnTo>
                <a:lnTo>
                  <a:pt x="0" y="4207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 t="-25554" b="-25556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576277" y="4835728"/>
            <a:ext cx="3708054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Efficient Resource Use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76277" y="5378948"/>
            <a:ext cx="4664573" cy="1531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CPU resources are used only on-demand, improving overall system efficiency and throughput.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6310160" y="3048743"/>
            <a:ext cx="5667670" cy="5667670"/>
          </a:xfrm>
          <a:custGeom>
            <a:avLst/>
            <a:gdLst/>
            <a:ahLst/>
            <a:cxnLst/>
            <a:rect l="l" t="t" r="r" b="b"/>
            <a:pathLst>
              <a:path w="5667670" h="5667670">
                <a:moveTo>
                  <a:pt x="0" y="0"/>
                </a:moveTo>
                <a:lnTo>
                  <a:pt x="5667670" y="0"/>
                </a:lnTo>
                <a:lnTo>
                  <a:pt x="5667670" y="5667670"/>
                </a:lnTo>
                <a:lnTo>
                  <a:pt x="0" y="56676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Freeform 18" descr="preencoded.png"/>
          <p:cNvSpPr/>
          <p:nvPr/>
        </p:nvSpPr>
        <p:spPr>
          <a:xfrm>
            <a:off x="10392966" y="5672138"/>
            <a:ext cx="420738" cy="420738"/>
          </a:xfrm>
          <a:custGeom>
            <a:avLst/>
            <a:gdLst/>
            <a:ahLst/>
            <a:cxnLst/>
            <a:rect l="l" t="t" r="r" b="b"/>
            <a:pathLst>
              <a:path w="420738" h="420738">
                <a:moveTo>
                  <a:pt x="0" y="0"/>
                </a:moveTo>
                <a:lnTo>
                  <a:pt x="420738" y="0"/>
                </a:lnTo>
                <a:lnTo>
                  <a:pt x="420738" y="420738"/>
                </a:lnTo>
                <a:lnTo>
                  <a:pt x="0" y="4207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1977840" y="7340203"/>
            <a:ext cx="4389539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Wearables &amp; Portable Tech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977840" y="7883423"/>
            <a:ext cx="5263010" cy="1531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Ideal for power-critical portable electronics and battery-operated wearable technology.</a:t>
            </a:r>
          </a:p>
        </p:txBody>
      </p:sp>
      <p:sp>
        <p:nvSpPr>
          <p:cNvPr id="21" name="Freeform 21" descr="preencoded.png"/>
          <p:cNvSpPr/>
          <p:nvPr/>
        </p:nvSpPr>
        <p:spPr>
          <a:xfrm>
            <a:off x="6310160" y="3048743"/>
            <a:ext cx="5667670" cy="5667670"/>
          </a:xfrm>
          <a:custGeom>
            <a:avLst/>
            <a:gdLst/>
            <a:ahLst/>
            <a:cxnLst/>
            <a:rect l="l" t="t" r="r" b="b"/>
            <a:pathLst>
              <a:path w="5667670" h="5667670">
                <a:moveTo>
                  <a:pt x="0" y="0"/>
                </a:moveTo>
                <a:lnTo>
                  <a:pt x="5667670" y="0"/>
                </a:lnTo>
                <a:lnTo>
                  <a:pt x="5667670" y="5667670"/>
                </a:lnTo>
                <a:lnTo>
                  <a:pt x="0" y="56676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Freeform 22" descr="preencoded.png"/>
          <p:cNvSpPr/>
          <p:nvPr/>
        </p:nvSpPr>
        <p:spPr>
          <a:xfrm>
            <a:off x="9663265" y="6935991"/>
            <a:ext cx="420738" cy="420738"/>
          </a:xfrm>
          <a:custGeom>
            <a:avLst/>
            <a:gdLst/>
            <a:ahLst/>
            <a:cxnLst/>
            <a:rect l="l" t="t" r="r" b="b"/>
            <a:pathLst>
              <a:path w="420738" h="420738">
                <a:moveTo>
                  <a:pt x="0" y="0"/>
                </a:moveTo>
                <a:lnTo>
                  <a:pt x="420738" y="0"/>
                </a:lnTo>
                <a:lnTo>
                  <a:pt x="420738" y="420738"/>
                </a:lnTo>
                <a:lnTo>
                  <a:pt x="0" y="4207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2623242" y="7340203"/>
            <a:ext cx="3686918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37"/>
              </a:lnSpc>
            </a:pPr>
            <a:r>
              <a:rPr lang="en-US" sz="275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Industrial Applications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7159" y="7883423"/>
            <a:ext cx="5263010" cy="1531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Applicable to smart sensors and monitoring systems in low-power industrial environments.</a:t>
            </a:r>
          </a:p>
        </p:txBody>
      </p:sp>
      <p:sp>
        <p:nvSpPr>
          <p:cNvPr id="25" name="Freeform 25" descr="preencoded.png"/>
          <p:cNvSpPr/>
          <p:nvPr/>
        </p:nvSpPr>
        <p:spPr>
          <a:xfrm>
            <a:off x="6310160" y="3048743"/>
            <a:ext cx="5667670" cy="5667670"/>
          </a:xfrm>
          <a:custGeom>
            <a:avLst/>
            <a:gdLst/>
            <a:ahLst/>
            <a:cxnLst/>
            <a:rect l="l" t="t" r="r" b="b"/>
            <a:pathLst>
              <a:path w="5667670" h="5667670">
                <a:moveTo>
                  <a:pt x="0" y="0"/>
                </a:moveTo>
                <a:lnTo>
                  <a:pt x="5667670" y="0"/>
                </a:lnTo>
                <a:lnTo>
                  <a:pt x="5667670" y="5667670"/>
                </a:lnTo>
                <a:lnTo>
                  <a:pt x="0" y="566767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6" name="Freeform 26" descr="preencoded.png"/>
          <p:cNvSpPr/>
          <p:nvPr/>
        </p:nvSpPr>
        <p:spPr>
          <a:xfrm>
            <a:off x="8203702" y="6935991"/>
            <a:ext cx="420738" cy="420738"/>
          </a:xfrm>
          <a:custGeom>
            <a:avLst/>
            <a:gdLst/>
            <a:ahLst/>
            <a:cxnLst/>
            <a:rect l="l" t="t" r="r" b="b"/>
            <a:pathLst>
              <a:path w="420738" h="420738">
                <a:moveTo>
                  <a:pt x="0" y="0"/>
                </a:moveTo>
                <a:lnTo>
                  <a:pt x="420738" y="0"/>
                </a:lnTo>
                <a:lnTo>
                  <a:pt x="420738" y="420738"/>
                </a:lnTo>
                <a:lnTo>
                  <a:pt x="0" y="42073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 t="-4443" b="-4443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191493" y="4835728"/>
            <a:ext cx="3520230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37"/>
              </a:lnSpc>
            </a:pPr>
            <a:r>
              <a:rPr lang="en-US" sz="275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IoT Devices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7159" y="5378948"/>
            <a:ext cx="4664573" cy="1531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Perfectly suited for battery-powered, decentralized Internet of Things (IoT) devices.</a:t>
            </a:r>
          </a:p>
        </p:txBody>
      </p:sp>
      <p:sp>
        <p:nvSpPr>
          <p:cNvPr id="29" name="Freeform 29" descr="preencoded.png"/>
          <p:cNvSpPr/>
          <p:nvPr/>
        </p:nvSpPr>
        <p:spPr>
          <a:xfrm>
            <a:off x="6310160" y="3048743"/>
            <a:ext cx="5667670" cy="5667670"/>
          </a:xfrm>
          <a:custGeom>
            <a:avLst/>
            <a:gdLst/>
            <a:ahLst/>
            <a:cxnLst/>
            <a:rect l="l" t="t" r="r" b="b"/>
            <a:pathLst>
              <a:path w="5667670" h="5667670">
                <a:moveTo>
                  <a:pt x="0" y="0"/>
                </a:moveTo>
                <a:lnTo>
                  <a:pt x="5667670" y="0"/>
                </a:lnTo>
                <a:lnTo>
                  <a:pt x="5667670" y="5667670"/>
                </a:lnTo>
                <a:lnTo>
                  <a:pt x="0" y="566767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 descr="preencoded.png"/>
          <p:cNvSpPr/>
          <p:nvPr/>
        </p:nvSpPr>
        <p:spPr>
          <a:xfrm>
            <a:off x="7474001" y="5672138"/>
            <a:ext cx="420738" cy="420738"/>
          </a:xfrm>
          <a:custGeom>
            <a:avLst/>
            <a:gdLst/>
            <a:ahLst/>
            <a:cxnLst/>
            <a:rect l="l" t="t" r="r" b="b"/>
            <a:pathLst>
              <a:path w="420738" h="420738">
                <a:moveTo>
                  <a:pt x="0" y="0"/>
                </a:moveTo>
                <a:lnTo>
                  <a:pt x="420738" y="0"/>
                </a:lnTo>
                <a:lnTo>
                  <a:pt x="420738" y="420738"/>
                </a:lnTo>
                <a:lnTo>
                  <a:pt x="0" y="42073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xmlns="" r:embed="rId20"/>
                </a:ext>
              </a:extLst>
            </a:blip>
            <a:stretch>
              <a:fillRect t="-8887" b="-8890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5" y="9686925"/>
            <a:ext cx="2153260" cy="514350"/>
          </a:xfrm>
          <a:custGeom>
            <a:avLst/>
            <a:gdLst/>
            <a:ahLst/>
            <a:cxnLst/>
            <a:rect l="l" t="t" r="r" b="b"/>
            <a:pathLst>
              <a:path w="2153260" h="51435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>
                <a:alpha val="63922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047159" y="3502523"/>
            <a:ext cx="14775361" cy="899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98B1EA"/>
                </a:solidFill>
                <a:latin typeface="Lora"/>
                <a:ea typeface="Lora"/>
                <a:cs typeface="Lora"/>
                <a:sym typeface="Lora"/>
              </a:rPr>
              <a:t>Conclusion: Sustainable Power, Smart Design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7159" y="4755061"/>
            <a:ext cx="16193691" cy="2010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system efficiently manages power by keeping the microcontroller in low-power sleep modes during inactivity and using interrupt-driven execution to run tasks only when needed. Optimized use of sensors, peripherals, and communication interfaces further reduces energy consumption, while the power supply and battery are designed for long-lasting, low-noise operation. Overall, these strategies result in extended battery life and highly energy-efficient system performance.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5" y="9686925"/>
            <a:ext cx="2153260" cy="514350"/>
          </a:xfrm>
          <a:custGeom>
            <a:avLst/>
            <a:gdLst/>
            <a:ahLst/>
            <a:cxnLst/>
            <a:rect l="l" t="t" r="r" b="b"/>
            <a:pathLst>
              <a:path w="2153260" h="51435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47159" y="3094882"/>
            <a:ext cx="7040613" cy="899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98B1EA"/>
                </a:solidFill>
                <a:latin typeface="Lora"/>
                <a:ea typeface="Lora"/>
                <a:cs typeface="Lora"/>
                <a:sym typeface="Lora"/>
              </a:rPr>
              <a:t>Thank You!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7159" y="4347420"/>
            <a:ext cx="9335691" cy="2010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We appreciate your time and attention to our presentation on power-aware embedded systems. We believe this interrupt-based wake-up methodology offers a robust solution for extending battery life and enhancing efficiency in various applications.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159" y="6599034"/>
            <a:ext cx="9335691" cy="574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We are now open for any questions you may have.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877</Words>
  <Application>Microsoft Office PowerPoint</Application>
  <PresentationFormat>Custom</PresentationFormat>
  <Paragraphs>131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Lora</vt:lpstr>
      <vt:lpstr>Source Sans 3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Power-Aware-Embedded-System-Using-Interrupt-Based-Wake-Up (2).pptx</dc:title>
  <cp:lastModifiedBy>HP</cp:lastModifiedBy>
  <cp:revision>2</cp:revision>
  <dcterms:created xsi:type="dcterms:W3CDTF">2006-08-16T00:00:00Z</dcterms:created>
  <dcterms:modified xsi:type="dcterms:W3CDTF">2025-12-23T15:50:55Z</dcterms:modified>
  <dc:identifier>DAG8V3eC7V4</dc:identifier>
</cp:coreProperties>
</file>